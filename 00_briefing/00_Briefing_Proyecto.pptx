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24384000" cy="13716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Georgia" panose="02040502050405020303" pitchFamily="18" charset="0"/>
      <p:regular r:id="rId13"/>
      <p:bold r:id="rId14"/>
      <p:italic r:id="rId15"/>
      <p:boldItalic r:id="rId16"/>
    </p:embeddedFont>
    <p:embeddedFont>
      <p:font typeface="Heebo" panose="020B0604020202020204" charset="-79"/>
      <p:regular r:id="rId17"/>
      <p:bold r:id="rId18"/>
    </p:embeddedFont>
    <p:embeddedFont>
      <p:font typeface="Helvetica Neue" panose="020B0604020202020204" charset="0"/>
      <p:regular r:id="rId19"/>
      <p:bold r:id="rId20"/>
      <p:italic r:id="rId21"/>
      <p:boldItalic r:id="rId22"/>
    </p:embeddedFont>
    <p:embeddedFont>
      <p:font typeface="Montserrat" panose="020B0604020202020204" charset="0"/>
      <p:regular r:id="rId23"/>
      <p:bold r:id="rId24"/>
      <p:italic r:id="rId25"/>
      <p:boldItalic r:id="rId26"/>
    </p:embeddedFont>
    <p:embeddedFont>
      <p:font typeface="Montserrat ExtraBold" panose="020B0604020202020204" charset="0"/>
      <p:bold r:id="rId27"/>
      <p:boldItalic r:id="rId28"/>
    </p:embeddedFont>
    <p:embeddedFont>
      <p:font typeface="Nunito Sans" panose="020B0604020202020204" charset="0"/>
      <p:regular r:id="rId29"/>
      <p:bold r:id="rId30"/>
      <p:italic r:id="rId31"/>
      <p:boldItalic r:id="rId32"/>
    </p:embeddedFont>
    <p:embeddedFont>
      <p:font typeface="Roboto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039">
          <p15:clr>
            <a:srgbClr val="000000"/>
          </p15:clr>
        </p15:guide>
        <p15:guide id="2" pos="9121">
          <p15:clr>
            <a:srgbClr val="000000"/>
          </p15:clr>
        </p15:guide>
        <p15:guide id="3" orient="horz" pos="187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284E"/>
    <a:srgbClr val="B73A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714" y="114"/>
      </p:cViewPr>
      <p:guideLst>
        <p:guide orient="horz" pos="4039"/>
        <p:guide pos="9121"/>
        <p:guide orient="horz" pos="18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9" Type="http://schemas.openxmlformats.org/officeDocument/2006/relationships/theme" Target="theme/theme1.xml"/><Relationship Id="rId21" Type="http://schemas.openxmlformats.org/officeDocument/2006/relationships/font" Target="fonts/font13.fntdata"/><Relationship Id="rId34" Type="http://schemas.openxmlformats.org/officeDocument/2006/relationships/font" Target="fonts/font26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33" Type="http://schemas.openxmlformats.org/officeDocument/2006/relationships/font" Target="fonts/font2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font" Target="fonts/font2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font" Target="fonts/font20.fntdata"/><Relationship Id="rId36" Type="http://schemas.openxmlformats.org/officeDocument/2006/relationships/font" Target="fonts/font28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font" Target="fonts/font23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font" Target="fonts/font22.fntdata"/><Relationship Id="rId35" Type="http://schemas.openxmlformats.org/officeDocument/2006/relationships/font" Target="fonts/font27.fntdata"/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f3ad55a6a_0_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2bf3ad55a6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f368f61f8_0_68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2bf368f61f8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f368f61f8_0_68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2bf368f61f8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5912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f368f61f8_0_68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2bf368f61f8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2778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f368f61f8_0_68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2bf368f61f8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2139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bf368f61f8_0_68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g2bf368f61f8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2122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eoland.es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31222" y="1985533"/>
            <a:ext cx="22721700" cy="5473500"/>
          </a:xfrm>
          <a:prstGeom prst="rect">
            <a:avLst/>
          </a:prstGeom>
        </p:spPr>
        <p:txBody>
          <a:bodyPr spcFirstLastPara="1" wrap="square" lIns="243800" tIns="243800" rIns="243800" bIns="243800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31200" y="7557667"/>
            <a:ext cx="22721700" cy="21135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831200" y="5735600"/>
            <a:ext cx="22721700" cy="22449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rmAutofit/>
          </a:bodyPr>
          <a:lstStyle>
            <a:lvl1pPr marL="457200" lvl="0" indent="-533400" rtl="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marL="914400" lvl="1" indent="-463550" rtl="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2pPr>
            <a:lvl3pPr marL="1371600" lvl="2" indent="-463550" rtl="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3pPr>
            <a:lvl4pPr marL="1828800" lvl="3" indent="-46355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4pPr>
            <a:lvl5pPr marL="2286000" lvl="4" indent="-463550" rtl="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5pPr>
            <a:lvl6pPr marL="2743200" lvl="5" indent="-463550" rtl="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6pPr>
            <a:lvl7pPr marL="3200400" lvl="6" indent="-46355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7pPr>
            <a:lvl8pPr marL="3657600" lvl="7" indent="-463550" rtl="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8pPr>
            <a:lvl9pPr marL="4114800" lvl="8" indent="-463550" rtl="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831200" y="3073267"/>
            <a:ext cx="10666500" cy="91104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rmAutofit/>
          </a:bodyPr>
          <a:lstStyle>
            <a:lvl1pPr marL="457200" lvl="0" indent="-46355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marL="914400" lvl="1" indent="-431800" rtl="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marL="1371600" lvl="2" indent="-431800" rtl="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marL="1828800" lvl="3" indent="-431800" rtl="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marL="2286000" lvl="4" indent="-431800" rtl="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marL="2743200" lvl="5" indent="-431800" rtl="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marL="3200400" lvl="6" indent="-431800" rtl="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marL="3657600" lvl="7" indent="-431800" rtl="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marL="4114800" lvl="8" indent="-431800" rtl="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2886400" y="3073267"/>
            <a:ext cx="10666500" cy="91104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rmAutofit/>
          </a:bodyPr>
          <a:lstStyle>
            <a:lvl1pPr marL="457200" lvl="0" indent="-46355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marL="914400" lvl="1" indent="-431800" rtl="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marL="1371600" lvl="2" indent="-431800" rtl="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marL="1828800" lvl="3" indent="-431800" rtl="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marL="2286000" lvl="4" indent="-431800" rtl="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marL="2743200" lvl="5" indent="-431800" rtl="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marL="3200400" lvl="6" indent="-431800" rtl="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marL="3657600" lvl="7" indent="-431800" rtl="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marL="4114800" lvl="8" indent="-431800" rtl="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7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831200" y="1481600"/>
            <a:ext cx="7488000" cy="2015100"/>
          </a:xfrm>
          <a:prstGeom prst="rect">
            <a:avLst/>
          </a:prstGeom>
        </p:spPr>
        <p:txBody>
          <a:bodyPr spcFirstLastPara="1" wrap="square" lIns="243800" tIns="243800" rIns="243800" bIns="24380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831200" y="3705600"/>
            <a:ext cx="7488000" cy="84783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rmAutofit/>
          </a:bodyPr>
          <a:lstStyle>
            <a:lvl1pPr marL="457200" lvl="0" indent="-431800" rtl="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1pPr>
            <a:lvl2pPr marL="914400" lvl="1" indent="-431800" rtl="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marL="1371600" lvl="2" indent="-431800" rtl="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marL="1828800" lvl="3" indent="-431800" rtl="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marL="2286000" lvl="4" indent="-431800" rtl="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marL="2743200" lvl="5" indent="-431800" rtl="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marL="3200400" lvl="6" indent="-431800" rtl="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marL="3657600" lvl="7" indent="-431800" rtl="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marL="4114800" lvl="8" indent="-431800" rtl="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307333" y="1200400"/>
            <a:ext cx="16980900" cy="109089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 rt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2192000" y="-333"/>
            <a:ext cx="12192000" cy="1371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708000" y="3288467"/>
            <a:ext cx="10787100" cy="3952800"/>
          </a:xfrm>
          <a:prstGeom prst="rect">
            <a:avLst/>
          </a:prstGeom>
        </p:spPr>
        <p:txBody>
          <a:bodyPr spcFirstLastPara="1" wrap="square" lIns="243800" tIns="243800" rIns="243800" bIns="243800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708000" y="7474867"/>
            <a:ext cx="10787100" cy="32937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3172000" y="1930867"/>
            <a:ext cx="10232100" cy="98535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rmAutofit/>
          </a:bodyPr>
          <a:lstStyle>
            <a:lvl1pPr marL="457200" lvl="0" indent="-533400" rtl="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marL="914400" lvl="1" indent="-463550" rtl="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2pPr>
            <a:lvl3pPr marL="1371600" lvl="2" indent="-463550" rtl="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3pPr>
            <a:lvl4pPr marL="1828800" lvl="3" indent="-46355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4pPr>
            <a:lvl5pPr marL="2286000" lvl="4" indent="-463550" rtl="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5pPr>
            <a:lvl6pPr marL="2743200" lvl="5" indent="-463550" rtl="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6pPr>
            <a:lvl7pPr marL="3200400" lvl="6" indent="-463550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7pPr>
            <a:lvl8pPr marL="3657600" lvl="7" indent="-463550" rtl="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8pPr>
            <a:lvl9pPr marL="4114800" lvl="8" indent="-463550" rtl="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831200" y="11281533"/>
            <a:ext cx="15996900" cy="1613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831200" y="2949667"/>
            <a:ext cx="22721700" cy="5235900"/>
          </a:xfrm>
          <a:prstGeom prst="rect">
            <a:avLst/>
          </a:prstGeom>
        </p:spPr>
        <p:txBody>
          <a:bodyPr spcFirstLastPara="1" wrap="square" lIns="243800" tIns="243800" rIns="243800" bIns="243800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831200" y="8405933"/>
            <a:ext cx="22721700" cy="34689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rmAutofit/>
          </a:bodyPr>
          <a:lstStyle>
            <a:lvl1pPr marL="457200" lvl="0" indent="-533400" algn="ctr" rtl="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marL="914400" lvl="1" indent="-463550" algn="ctr" rtl="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2pPr>
            <a:lvl3pPr marL="1371600" lvl="2" indent="-463550" algn="ctr" rtl="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3pPr>
            <a:lvl4pPr marL="1828800" lvl="3" indent="-463550" algn="ctr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4pPr>
            <a:lvl5pPr marL="2286000" lvl="4" indent="-463550" algn="ctr" rtl="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5pPr>
            <a:lvl6pPr marL="2743200" lvl="5" indent="-463550" algn="ctr" rtl="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6pPr>
            <a:lvl7pPr marL="3200400" lvl="6" indent="-463550" algn="ctr" rtl="0"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7pPr>
            <a:lvl8pPr marL="3657600" lvl="7" indent="-463550" algn="ctr" rtl="0"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8pPr>
            <a:lvl9pPr marL="4114800" lvl="8" indent="-463550" algn="ctr" rtl="0"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A7B17"/>
          </p15:clr>
        </p15:guide>
        <p15:guide id="2" pos="7680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ásica">
  <p:cSld name="TITLE_AND_BOD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1622425" y="12282487"/>
            <a:ext cx="27051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</a:pPr>
            <a:r>
              <a:rPr lang="en-US" sz="320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NEOLAND</a:t>
            </a:r>
            <a:endParaRPr sz="8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20057600" y="12420325"/>
            <a:ext cx="2444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-US" sz="2400" i="0" strike="noStrike" cap="none">
                <a:solidFill>
                  <a:srgbClr val="ADADAD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www.neoland.es</a:t>
            </a:r>
            <a:endParaRPr sz="1000">
              <a:solidFill>
                <a:srgbClr val="ADADA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 rot="5400000" flipH="1">
            <a:off x="12050433" y="-8962433"/>
            <a:ext cx="301800" cy="24403200"/>
          </a:xfrm>
          <a:prstGeom prst="rect">
            <a:avLst/>
          </a:prstGeom>
          <a:gradFill>
            <a:gsLst>
              <a:gs pos="0">
                <a:srgbClr val="000014">
                  <a:alpha val="20000"/>
                </a:srgbClr>
              </a:gs>
              <a:gs pos="100000">
                <a:srgbClr val="000014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223475" tIns="111700" rIns="223475" bIns="111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-19000" y="3390067"/>
            <a:ext cx="24403200" cy="103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23475" tIns="223475" rIns="223475" bIns="2234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4926067" y="4545600"/>
            <a:ext cx="14532000" cy="72390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rmAutofit/>
          </a:bodyPr>
          <a:lstStyle>
            <a:lvl1pPr marL="457200" lvl="0" indent="-603250" algn="ctr" rtl="0">
              <a:spcBef>
                <a:spcPts val="0"/>
              </a:spcBef>
              <a:spcAft>
                <a:spcPts val="0"/>
              </a:spcAft>
              <a:buSzPts val="5900"/>
              <a:buFont typeface="Georgia"/>
              <a:buChar char="●"/>
              <a:defRPr sz="5900" i="1"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603250" algn="ctr" rtl="0">
              <a:spcBef>
                <a:spcPts val="0"/>
              </a:spcBef>
              <a:spcAft>
                <a:spcPts val="0"/>
              </a:spcAft>
              <a:buSzPts val="5900"/>
              <a:buFont typeface="Georgia"/>
              <a:buChar char="○"/>
              <a:defRPr sz="5900" i="1"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603250" algn="ctr" rtl="0">
              <a:spcBef>
                <a:spcPts val="0"/>
              </a:spcBef>
              <a:spcAft>
                <a:spcPts val="0"/>
              </a:spcAft>
              <a:buSzPts val="5900"/>
              <a:buFont typeface="Georgia"/>
              <a:buChar char="■"/>
              <a:defRPr sz="5900" i="1"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603250" algn="ctr" rtl="0">
              <a:spcBef>
                <a:spcPts val="0"/>
              </a:spcBef>
              <a:spcAft>
                <a:spcPts val="0"/>
              </a:spcAft>
              <a:buSzPts val="5900"/>
              <a:buFont typeface="Georgia"/>
              <a:buChar char="●"/>
              <a:defRPr sz="5900" i="1"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603250" algn="ctr" rtl="0">
              <a:spcBef>
                <a:spcPts val="0"/>
              </a:spcBef>
              <a:spcAft>
                <a:spcPts val="0"/>
              </a:spcAft>
              <a:buSzPts val="5900"/>
              <a:buFont typeface="Georgia"/>
              <a:buChar char="○"/>
              <a:defRPr sz="5900" i="1"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603250" algn="ctr" rtl="0">
              <a:spcBef>
                <a:spcPts val="0"/>
              </a:spcBef>
              <a:spcAft>
                <a:spcPts val="0"/>
              </a:spcAft>
              <a:buSzPts val="5900"/>
              <a:buFont typeface="Georgia"/>
              <a:buChar char="■"/>
              <a:defRPr sz="5900" i="1">
                <a:latin typeface="Georgia"/>
                <a:ea typeface="Georgia"/>
                <a:cs typeface="Georgia"/>
                <a:sym typeface="Georgia"/>
              </a:defRPr>
            </a:lvl6pPr>
            <a:lvl7pPr marL="3200400" lvl="6" indent="-603250" algn="ctr" rtl="0">
              <a:spcBef>
                <a:spcPts val="0"/>
              </a:spcBef>
              <a:spcAft>
                <a:spcPts val="0"/>
              </a:spcAft>
              <a:buSzPts val="5900"/>
              <a:buFont typeface="Georgia"/>
              <a:buChar char="●"/>
              <a:defRPr sz="5900" i="1">
                <a:latin typeface="Georgia"/>
                <a:ea typeface="Georgia"/>
                <a:cs typeface="Georgia"/>
                <a:sym typeface="Georgia"/>
              </a:defRPr>
            </a:lvl7pPr>
            <a:lvl8pPr marL="3657600" lvl="7" indent="-603250" algn="ctr" rtl="0">
              <a:spcBef>
                <a:spcPts val="0"/>
              </a:spcBef>
              <a:spcAft>
                <a:spcPts val="0"/>
              </a:spcAft>
              <a:buSzPts val="5900"/>
              <a:buFont typeface="Georgia"/>
              <a:buChar char="○"/>
              <a:defRPr sz="5900" i="1">
                <a:latin typeface="Georgia"/>
                <a:ea typeface="Georgia"/>
                <a:cs typeface="Georgia"/>
                <a:sym typeface="Georgia"/>
              </a:defRPr>
            </a:lvl8pPr>
            <a:lvl9pPr marL="4114800" lvl="8" indent="-603250" algn="ctr" rtl="0">
              <a:spcBef>
                <a:spcPts val="0"/>
              </a:spcBef>
              <a:spcAft>
                <a:spcPts val="0"/>
              </a:spcAft>
              <a:buSzPts val="5900"/>
              <a:buFont typeface="Georgia"/>
              <a:buChar char="■"/>
              <a:defRPr sz="5900" i="1"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9582400" y="607264"/>
            <a:ext cx="52191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3475" tIns="223475" rIns="223475" bIns="2234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“</a:t>
            </a:r>
            <a:endParaRPr sz="1760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22818090" y="12666269"/>
            <a:ext cx="1463100" cy="10500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2 1">
  <p:cSld name="CUSTOM_2_2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 1">
  <p:cSld name="SECTION_HEADER_1"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1200" y="3261867"/>
            <a:ext cx="22721700" cy="22449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Font typeface="Heebo"/>
              <a:buNone/>
              <a:defRPr sz="9600" b="1"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 b="1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subTitle" idx="1"/>
          </p:nvPr>
        </p:nvSpPr>
        <p:spPr>
          <a:xfrm>
            <a:off x="3710600" y="8153267"/>
            <a:ext cx="17619300" cy="30543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9600">
                <a:solidFill>
                  <a:srgbClr val="A40A06"/>
                </a:solidFill>
                <a:latin typeface="Heebo"/>
                <a:ea typeface="Heebo"/>
                <a:cs typeface="Heebo"/>
                <a:sym typeface="Heebo"/>
              </a:defRPr>
            </a:lvl1pPr>
            <a:lvl2pPr lvl="1" algn="ctr" rtl="0">
              <a:spcBef>
                <a:spcPts val="3200"/>
              </a:spcBef>
              <a:spcAft>
                <a:spcPts val="0"/>
              </a:spcAft>
              <a:buNone/>
              <a:defRPr sz="960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defRPr>
            </a:lvl2pPr>
            <a:lvl3pPr lvl="2" algn="ctr" rtl="0">
              <a:spcBef>
                <a:spcPts val="3200"/>
              </a:spcBef>
              <a:spcAft>
                <a:spcPts val="0"/>
              </a:spcAft>
              <a:buNone/>
              <a:defRPr sz="960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defRPr>
            </a:lvl3pPr>
            <a:lvl4pPr lvl="3" algn="ctr" rtl="0">
              <a:spcBef>
                <a:spcPts val="3200"/>
              </a:spcBef>
              <a:spcAft>
                <a:spcPts val="0"/>
              </a:spcAft>
              <a:buNone/>
              <a:defRPr sz="960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defRPr>
            </a:lvl4pPr>
            <a:lvl5pPr lvl="4" algn="ctr" rtl="0">
              <a:spcBef>
                <a:spcPts val="3200"/>
              </a:spcBef>
              <a:spcAft>
                <a:spcPts val="0"/>
              </a:spcAft>
              <a:buNone/>
              <a:defRPr sz="960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defRPr>
            </a:lvl5pPr>
            <a:lvl6pPr lvl="5" algn="ctr" rtl="0">
              <a:spcBef>
                <a:spcPts val="3200"/>
              </a:spcBef>
              <a:spcAft>
                <a:spcPts val="0"/>
              </a:spcAft>
              <a:buNone/>
              <a:defRPr sz="960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defRPr>
            </a:lvl6pPr>
            <a:lvl7pPr lvl="6" algn="ctr" rtl="0">
              <a:spcBef>
                <a:spcPts val="3200"/>
              </a:spcBef>
              <a:spcAft>
                <a:spcPts val="0"/>
              </a:spcAft>
              <a:buNone/>
              <a:defRPr sz="960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defRPr>
            </a:lvl7pPr>
            <a:lvl8pPr lvl="7" algn="ctr" rtl="0">
              <a:spcBef>
                <a:spcPts val="3200"/>
              </a:spcBef>
              <a:spcAft>
                <a:spcPts val="0"/>
              </a:spcAft>
              <a:buNone/>
              <a:defRPr sz="960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defRPr>
            </a:lvl8pPr>
            <a:lvl9pPr lvl="8" algn="ctr" rtl="0">
              <a:spcBef>
                <a:spcPts val="3200"/>
              </a:spcBef>
              <a:spcAft>
                <a:spcPts val="3200"/>
              </a:spcAft>
              <a:buNone/>
              <a:defRPr sz="960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  <p:pic>
        <p:nvPicPr>
          <p:cNvPr id="63" name="Google Shape;6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318067" y="12458333"/>
            <a:ext cx="2380134" cy="739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">
  <p:cSld name="Custom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sz="7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rmAutofit/>
          </a:bodyPr>
          <a:lstStyle>
            <a:lvl1pPr marL="457200" lvl="0" indent="-533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Char char="●"/>
              <a:defRPr sz="4800">
                <a:solidFill>
                  <a:schemeClr val="dk2"/>
                </a:solidFill>
              </a:defRPr>
            </a:lvl1pPr>
            <a:lvl2pPr marL="914400" lvl="1" indent="-4635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Char char="○"/>
              <a:defRPr sz="3700">
                <a:solidFill>
                  <a:schemeClr val="dk2"/>
                </a:solidFill>
              </a:defRPr>
            </a:lvl2pPr>
            <a:lvl3pPr marL="1371600" lvl="2" indent="-4635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Char char="■"/>
              <a:defRPr sz="3700">
                <a:solidFill>
                  <a:schemeClr val="dk2"/>
                </a:solidFill>
              </a:defRPr>
            </a:lvl3pPr>
            <a:lvl4pPr marL="1828800" lvl="3" indent="-4635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Char char="●"/>
              <a:defRPr sz="3700">
                <a:solidFill>
                  <a:schemeClr val="dk2"/>
                </a:solidFill>
              </a:defRPr>
            </a:lvl4pPr>
            <a:lvl5pPr marL="2286000" lvl="4" indent="-4635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Char char="○"/>
              <a:defRPr sz="3700">
                <a:solidFill>
                  <a:schemeClr val="dk2"/>
                </a:solidFill>
              </a:defRPr>
            </a:lvl5pPr>
            <a:lvl6pPr marL="2743200" lvl="5" indent="-4635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Char char="■"/>
              <a:defRPr sz="3700">
                <a:solidFill>
                  <a:schemeClr val="dk2"/>
                </a:solidFill>
              </a:defRPr>
            </a:lvl6pPr>
            <a:lvl7pPr marL="3200400" lvl="6" indent="-4635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Char char="●"/>
              <a:defRPr sz="3700">
                <a:solidFill>
                  <a:schemeClr val="dk2"/>
                </a:solidFill>
              </a:defRPr>
            </a:lvl7pPr>
            <a:lvl8pPr marL="3657600" lvl="7" indent="-4635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Char char="○"/>
              <a:defRPr sz="3700">
                <a:solidFill>
                  <a:schemeClr val="dk2"/>
                </a:solidFill>
              </a:defRPr>
            </a:lvl8pPr>
            <a:lvl9pPr marL="4114800" lvl="8" indent="-4635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Char char="■"/>
              <a:defRPr sz="3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ctr" anchorCtr="0">
            <a:normAutofit/>
          </a:bodyPr>
          <a:lstStyle>
            <a:lvl1pPr lvl="0" algn="r" rtl="0">
              <a:buNone/>
              <a:defRPr sz="2700">
                <a:solidFill>
                  <a:schemeClr val="dk2"/>
                </a:solidFill>
              </a:defRPr>
            </a:lvl1pPr>
            <a:lvl2pPr lvl="1" algn="r" rtl="0">
              <a:buNone/>
              <a:defRPr sz="2700">
                <a:solidFill>
                  <a:schemeClr val="dk2"/>
                </a:solidFill>
              </a:defRPr>
            </a:lvl2pPr>
            <a:lvl3pPr lvl="2" algn="r" rtl="0">
              <a:buNone/>
              <a:defRPr sz="2700">
                <a:solidFill>
                  <a:schemeClr val="dk2"/>
                </a:solidFill>
              </a:defRPr>
            </a:lvl3pPr>
            <a:lvl4pPr lvl="3" algn="r" rtl="0">
              <a:buNone/>
              <a:defRPr sz="2700">
                <a:solidFill>
                  <a:schemeClr val="dk2"/>
                </a:solidFill>
              </a:defRPr>
            </a:lvl4pPr>
            <a:lvl5pPr lvl="4" algn="r" rtl="0">
              <a:buNone/>
              <a:defRPr sz="2700">
                <a:solidFill>
                  <a:schemeClr val="dk2"/>
                </a:solidFill>
              </a:defRPr>
            </a:lvl5pPr>
            <a:lvl6pPr lvl="5" algn="r" rtl="0">
              <a:buNone/>
              <a:defRPr sz="2700">
                <a:solidFill>
                  <a:schemeClr val="dk2"/>
                </a:solidFill>
              </a:defRPr>
            </a:lvl6pPr>
            <a:lvl7pPr lvl="6" algn="r" rtl="0">
              <a:buNone/>
              <a:defRPr sz="2700">
                <a:solidFill>
                  <a:schemeClr val="dk2"/>
                </a:solidFill>
              </a:defRPr>
            </a:lvl7pPr>
            <a:lvl8pPr lvl="7" algn="r" rtl="0">
              <a:buNone/>
              <a:defRPr sz="2700">
                <a:solidFill>
                  <a:schemeClr val="dk2"/>
                </a:solidFill>
              </a:defRPr>
            </a:lvl8pPr>
            <a:lvl9pPr lvl="8" algn="r" rtl="0">
              <a:buNone/>
              <a:defRPr sz="27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eoland.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nsideairbnb.com/es/get-the-data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ervpub.madrid.es/CSEBD_WBINTER/arbol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284E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/>
        </p:nvSpPr>
        <p:spPr>
          <a:xfrm>
            <a:off x="1860527" y="3399959"/>
            <a:ext cx="17102400" cy="424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s-ES" sz="88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Presión Turística vs. Precio de Alquiler Residencial en Madrid</a:t>
            </a:r>
            <a:endParaRPr sz="57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8"/>
          <p:cNvSpPr txBox="1"/>
          <p:nvPr/>
        </p:nvSpPr>
        <p:spPr>
          <a:xfrm>
            <a:off x="1622425" y="12282487"/>
            <a:ext cx="27051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</a:pPr>
            <a:r>
              <a:rPr lang="en-US" sz="320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NEOLAND</a:t>
            </a:r>
            <a:endParaRPr sz="8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1" name="Google Shape;71;p18"/>
          <p:cNvSpPr txBox="1"/>
          <p:nvPr/>
        </p:nvSpPr>
        <p:spPr>
          <a:xfrm>
            <a:off x="20057600" y="12420325"/>
            <a:ext cx="2444100" cy="4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</a:pPr>
            <a:r>
              <a:rPr lang="en-US" sz="2400" i="0" strike="noStrike" cap="none">
                <a:solidFill>
                  <a:srgbClr val="EFEFE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www.neoland.es</a:t>
            </a:r>
            <a:endParaRPr sz="1000"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69;p18">
            <a:extLst>
              <a:ext uri="{FF2B5EF4-FFF2-40B4-BE49-F238E27FC236}">
                <a16:creationId xmlns:a16="http://schemas.microsoft.com/office/drawing/2014/main" id="{085593E4-96EF-C7C9-1AD0-62A2D3BCE027}"/>
              </a:ext>
            </a:extLst>
          </p:cNvPr>
          <p:cNvSpPr txBox="1"/>
          <p:nvPr/>
        </p:nvSpPr>
        <p:spPr>
          <a:xfrm>
            <a:off x="1622425" y="8884559"/>
            <a:ext cx="171024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Integrantes</a:t>
            </a:r>
            <a:r>
              <a:rPr lang="en-US" sz="48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:  </a:t>
            </a:r>
            <a:r>
              <a:rPr lang="en-US" sz="36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Juan Cortés Paredes</a:t>
            </a:r>
            <a:endParaRPr sz="36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/>
        </p:nvSpPr>
        <p:spPr>
          <a:xfrm>
            <a:off x="1407922" y="224426"/>
            <a:ext cx="22028548" cy="1949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/>
            <a:r>
              <a:rPr lang="es-ES" sz="6000" dirty="0">
                <a:solidFill>
                  <a:srgbClr val="E6284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Presión Turística vs. Precio de Alquiler Residencial en Madrid</a:t>
            </a:r>
            <a:endParaRPr lang="es-ES" sz="4000" dirty="0">
              <a:solidFill>
                <a:srgbClr val="E628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9"/>
          <p:cNvSpPr txBox="1"/>
          <p:nvPr/>
        </p:nvSpPr>
        <p:spPr>
          <a:xfrm>
            <a:off x="1885000" y="10139000"/>
            <a:ext cx="72129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3810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 b="1">
              <a:solidFill>
                <a:srgbClr val="A40A0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Google Shape;77;p19">
            <a:extLst>
              <a:ext uri="{FF2B5EF4-FFF2-40B4-BE49-F238E27FC236}">
                <a16:creationId xmlns:a16="http://schemas.microsoft.com/office/drawing/2014/main" id="{D4C655FF-30C7-4BB2-B20C-D715CE4E73DD}"/>
              </a:ext>
            </a:extLst>
          </p:cNvPr>
          <p:cNvSpPr txBox="1"/>
          <p:nvPr/>
        </p:nvSpPr>
        <p:spPr>
          <a:xfrm>
            <a:off x="1407922" y="4371121"/>
            <a:ext cx="22028548" cy="207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/>
            <a:r>
              <a:rPr lang="es-ES" sz="3200" dirty="0">
                <a:solidFill>
                  <a:schemeClr val="tx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Antecedentes:</a:t>
            </a:r>
          </a:p>
          <a:p>
            <a:pPr lvl="0"/>
            <a:endParaRPr lang="es-ES" sz="3200" dirty="0">
              <a:solidFill>
                <a:schemeClr val="tx1"/>
              </a:solidFill>
              <a:latin typeface="Montserrat" panose="020B0604020202020204" charset="0"/>
              <a:ea typeface="Montserrat ExtraBold"/>
              <a:cs typeface="Montserrat ExtraBold"/>
              <a:sym typeface="Montserrat ExtraBold"/>
            </a:endParaRPr>
          </a:p>
          <a:p>
            <a:r>
              <a:rPr lang="es-ES" sz="3200" dirty="0">
                <a:latin typeface="Montserrat" panose="020B0604020202020204" charset="0"/>
              </a:rPr>
              <a:t>Madrid ha visto crecer el alquiler turístico (Airbnb) a la vez que el alquiler residencial se encarece en distritos, alimentando el debate sobre si un fenómeno explica el otro. </a:t>
            </a:r>
            <a:endParaRPr lang="es-ES" sz="18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/>
        </p:nvSpPr>
        <p:spPr>
          <a:xfrm>
            <a:off x="1407922" y="224426"/>
            <a:ext cx="22028548" cy="1949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/>
            <a:r>
              <a:rPr lang="es-ES" sz="6000" dirty="0">
                <a:solidFill>
                  <a:srgbClr val="E6284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Presión Turística vs. Precio de Alquiler Residencial en Madrid</a:t>
            </a:r>
            <a:endParaRPr lang="es-ES" sz="4000" dirty="0">
              <a:solidFill>
                <a:srgbClr val="E628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9"/>
          <p:cNvSpPr txBox="1"/>
          <p:nvPr/>
        </p:nvSpPr>
        <p:spPr>
          <a:xfrm>
            <a:off x="1885000" y="10139000"/>
            <a:ext cx="72129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3810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 b="1">
              <a:solidFill>
                <a:srgbClr val="A40A0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Google Shape;77;p19">
            <a:extLst>
              <a:ext uri="{FF2B5EF4-FFF2-40B4-BE49-F238E27FC236}">
                <a16:creationId xmlns:a16="http://schemas.microsoft.com/office/drawing/2014/main" id="{D4C655FF-30C7-4BB2-B20C-D715CE4E73DD}"/>
              </a:ext>
            </a:extLst>
          </p:cNvPr>
          <p:cNvSpPr txBox="1"/>
          <p:nvPr/>
        </p:nvSpPr>
        <p:spPr>
          <a:xfrm>
            <a:off x="1407922" y="2893798"/>
            <a:ext cx="22028548" cy="5027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/>
            <a:r>
              <a:rPr lang="es-ES" sz="3200" dirty="0">
                <a:solidFill>
                  <a:schemeClr val="tx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Fuentes de datos:</a:t>
            </a:r>
          </a:p>
          <a:p>
            <a:pPr lvl="0"/>
            <a:endParaRPr lang="es-ES" sz="3200" dirty="0">
              <a:solidFill>
                <a:schemeClr val="tx1"/>
              </a:solidFill>
              <a:latin typeface="Montserrat" panose="020B0604020202020204" charset="0"/>
              <a:ea typeface="Montserrat ExtraBold"/>
              <a:cs typeface="Montserrat ExtraBold"/>
              <a:sym typeface="Montserrat ExtraBold"/>
            </a:endParaRPr>
          </a:p>
          <a:p>
            <a:r>
              <a:rPr lang="es-ES" sz="3200" dirty="0">
                <a:latin typeface="Montserrat" panose="020B0604020202020204" charset="0"/>
              </a:rPr>
              <a:t>Datos del precio de alquiler vacacional en Madrid: </a:t>
            </a:r>
            <a:r>
              <a:rPr lang="es-ES" sz="3200" dirty="0">
                <a:latin typeface="Montserrat" panose="020B0604020202020204" charset="0"/>
                <a:hlinkClick r:id="rId3"/>
              </a:rPr>
              <a:t>https://insideairbnb.com/es/get-the-data/</a:t>
            </a:r>
            <a:endParaRPr lang="es-ES" sz="3200" dirty="0">
              <a:latin typeface="Montserrat" panose="020B0604020202020204" charset="0"/>
            </a:endParaRPr>
          </a:p>
          <a:p>
            <a:r>
              <a:rPr lang="es-ES" sz="3200" dirty="0">
                <a:solidFill>
                  <a:schemeClr val="tx1"/>
                </a:solidFill>
                <a:latin typeface="Montserrat" panose="020B0604020202020204" charset="0"/>
                <a:ea typeface="Montserrat"/>
                <a:cs typeface="Montserrat"/>
                <a:sym typeface="Montserrat"/>
              </a:rPr>
              <a:t>Datos de precio vivienda: Realizar </a:t>
            </a:r>
            <a:r>
              <a:rPr lang="es-ES" sz="3200" dirty="0" err="1">
                <a:solidFill>
                  <a:schemeClr val="tx1"/>
                </a:solidFill>
                <a:latin typeface="Montserrat" panose="020B0604020202020204" charset="0"/>
                <a:ea typeface="Montserrat"/>
                <a:cs typeface="Montserrat"/>
                <a:sym typeface="Montserrat"/>
              </a:rPr>
              <a:t>scraping</a:t>
            </a:r>
            <a:r>
              <a:rPr lang="es-ES" sz="3200" dirty="0">
                <a:solidFill>
                  <a:schemeClr val="tx1"/>
                </a:solidFill>
                <a:latin typeface="Montserrat" panose="020B0604020202020204" charset="0"/>
                <a:ea typeface="Montserrat"/>
                <a:cs typeface="Montserrat"/>
                <a:sym typeface="Montserrat"/>
              </a:rPr>
              <a:t> en Idealista y Fotocasa. Además en </a:t>
            </a:r>
            <a:r>
              <a:rPr lang="es-ES" sz="3200" dirty="0">
                <a:solidFill>
                  <a:schemeClr val="tx1"/>
                </a:solidFill>
                <a:latin typeface="Montserrat" panose="020B0604020202020204" charset="0"/>
                <a:ea typeface="Montserrat"/>
                <a:cs typeface="Montserrat"/>
                <a:sym typeface="Montserrat"/>
                <a:hlinkClick r:id="rId4"/>
              </a:rPr>
              <a:t>https://servpub.madrid.es/CSEBD_WBINTER/arbol.html</a:t>
            </a:r>
            <a:r>
              <a:rPr lang="es-ES" sz="3200" dirty="0">
                <a:solidFill>
                  <a:schemeClr val="tx1"/>
                </a:solidFill>
                <a:latin typeface="Montserrat" panose="020B0604020202020204" charset="0"/>
                <a:ea typeface="Montserrat"/>
                <a:cs typeface="Montserrat"/>
                <a:sym typeface="Montserrat"/>
              </a:rPr>
              <a:t> se puede obtener el dato por m2 por distrito, barrio y mes (2026)</a:t>
            </a:r>
          </a:p>
          <a:p>
            <a:endParaRPr lang="es-ES" sz="3200" dirty="0">
              <a:solidFill>
                <a:schemeClr val="tx1"/>
              </a:solidFill>
              <a:latin typeface="Montserrat" panose="020B0604020202020204" charset="0"/>
              <a:ea typeface="Montserrat"/>
              <a:cs typeface="Montserrat"/>
              <a:sym typeface="Montserrat"/>
            </a:endParaRPr>
          </a:p>
          <a:p>
            <a:r>
              <a:rPr lang="es-ES" sz="3200" u="sng" dirty="0">
                <a:solidFill>
                  <a:schemeClr val="tx1"/>
                </a:solidFill>
                <a:latin typeface="Montserrat" panose="020B0604020202020204" charset="0"/>
                <a:ea typeface="Montserrat"/>
                <a:cs typeface="Montserrat"/>
                <a:sym typeface="Montserrat"/>
              </a:rPr>
              <a:t>Otras fuentes de datos</a:t>
            </a:r>
            <a:br>
              <a:rPr lang="es-ES" sz="3200" u="sng" dirty="0">
                <a:solidFill>
                  <a:schemeClr val="tx1"/>
                </a:solidFill>
                <a:latin typeface="Montserrat" panose="020B0604020202020204" charset="0"/>
                <a:ea typeface="Montserrat"/>
                <a:cs typeface="Montserrat"/>
                <a:sym typeface="Montserrat"/>
              </a:rPr>
            </a:br>
            <a:br>
              <a:rPr lang="es-ES" sz="3200" u="sng" dirty="0">
                <a:solidFill>
                  <a:schemeClr val="tx1"/>
                </a:solidFill>
                <a:latin typeface="Montserrat" panose="020B0604020202020204" charset="0"/>
                <a:ea typeface="Montserrat"/>
                <a:cs typeface="Montserrat"/>
                <a:sym typeface="Montserrat"/>
              </a:rPr>
            </a:br>
            <a:r>
              <a:rPr lang="es-ES" sz="3200" dirty="0">
                <a:solidFill>
                  <a:schemeClr val="tx1"/>
                </a:solidFill>
                <a:latin typeface="Montserrat" panose="020B0604020202020204" charset="0"/>
                <a:ea typeface="Montserrat"/>
                <a:cs typeface="Montserrat"/>
                <a:sym typeface="Montserrat"/>
              </a:rPr>
              <a:t>Renta Media: INE</a:t>
            </a:r>
            <a:endParaRPr lang="es-ES" sz="18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315293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/>
        </p:nvSpPr>
        <p:spPr>
          <a:xfrm>
            <a:off x="1407922" y="224426"/>
            <a:ext cx="22028548" cy="1949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/>
            <a:r>
              <a:rPr lang="es-ES" sz="6000" dirty="0">
                <a:solidFill>
                  <a:srgbClr val="E6284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Presión Turística vs. Precio de Alquiler Residencial en Madrid</a:t>
            </a:r>
            <a:endParaRPr lang="es-ES" sz="4000" dirty="0">
              <a:solidFill>
                <a:srgbClr val="E628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9"/>
          <p:cNvSpPr txBox="1"/>
          <p:nvPr/>
        </p:nvSpPr>
        <p:spPr>
          <a:xfrm>
            <a:off x="1885000" y="10139000"/>
            <a:ext cx="72129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3810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 b="1">
              <a:solidFill>
                <a:srgbClr val="A40A0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Google Shape;77;p19">
            <a:extLst>
              <a:ext uri="{FF2B5EF4-FFF2-40B4-BE49-F238E27FC236}">
                <a16:creationId xmlns:a16="http://schemas.microsoft.com/office/drawing/2014/main" id="{D4C655FF-30C7-4BB2-B20C-D715CE4E73DD}"/>
              </a:ext>
            </a:extLst>
          </p:cNvPr>
          <p:cNvSpPr txBox="1"/>
          <p:nvPr/>
        </p:nvSpPr>
        <p:spPr>
          <a:xfrm>
            <a:off x="1407922" y="3140018"/>
            <a:ext cx="22028548" cy="453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/>
            <a:r>
              <a:rPr lang="es-ES" sz="3200" dirty="0">
                <a:solidFill>
                  <a:schemeClr val="tx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Objetivo: </a:t>
            </a:r>
          </a:p>
          <a:p>
            <a:pPr lvl="0"/>
            <a:r>
              <a:rPr lang="es-ES" sz="3200" dirty="0">
                <a:solidFill>
                  <a:schemeClr val="tx1"/>
                </a:solidFill>
                <a:latin typeface="Montserrat" panose="020B0604020202020204" charset="0"/>
                <a:ea typeface="Montserrat ExtraBold"/>
                <a:cs typeface="Montserrat ExtraBold"/>
                <a:sym typeface="Montserrat ExtraBold"/>
              </a:rPr>
              <a:t>Analizar el impacto del alquiler vacacional (Airbnb) sobre el precio del alquiler de vivienda residencial en Madrid: en qué medida la densidad de vivienda turística influye en la subida del alquiler por distrito. </a:t>
            </a:r>
          </a:p>
          <a:p>
            <a:pPr lvl="0"/>
            <a:endParaRPr lang="es-ES" sz="3200" dirty="0">
              <a:solidFill>
                <a:schemeClr val="tx1"/>
              </a:solidFill>
              <a:latin typeface="Montserrat" panose="020B0604020202020204" charset="0"/>
              <a:ea typeface="Montserrat ExtraBold"/>
              <a:cs typeface="Montserrat ExtraBold"/>
              <a:sym typeface="Montserrat ExtraBold"/>
            </a:endParaRPr>
          </a:p>
          <a:p>
            <a:pPr lvl="0"/>
            <a:r>
              <a:rPr lang="es-ES" sz="3200" b="1" dirty="0">
                <a:solidFill>
                  <a:schemeClr val="tx1"/>
                </a:solidFill>
                <a:latin typeface="Montserrat" panose="020B0604020202020204" charset="0"/>
                <a:ea typeface="Montserrat ExtraBold"/>
                <a:cs typeface="Montserrat ExtraBold"/>
                <a:sym typeface="Montserrat ExtraBold"/>
              </a:rPr>
              <a:t>Hipótesis</a:t>
            </a:r>
            <a:r>
              <a:rPr lang="es-ES" sz="3200" dirty="0">
                <a:solidFill>
                  <a:schemeClr val="tx1"/>
                </a:solidFill>
                <a:latin typeface="Montserrat" panose="020B0604020202020204" charset="0"/>
                <a:ea typeface="Montserrat ExtraBold"/>
                <a:cs typeface="Montserrat ExtraBold"/>
                <a:sym typeface="Montserrat ExtraBold"/>
              </a:rPr>
              <a:t>:</a:t>
            </a:r>
          </a:p>
          <a:p>
            <a:pPr lvl="0"/>
            <a:endParaRPr lang="es-ES" sz="3200" dirty="0">
              <a:solidFill>
                <a:schemeClr val="tx1"/>
              </a:solidFill>
              <a:latin typeface="Montserrat" panose="020B0604020202020204" charset="0"/>
              <a:ea typeface="Montserrat ExtraBold"/>
              <a:cs typeface="Montserrat ExtraBold"/>
              <a:sym typeface="Montserrat ExtraBold"/>
            </a:endParaRPr>
          </a:p>
          <a:p>
            <a:pPr lvl="0"/>
            <a:r>
              <a:rPr lang="es-ES" sz="3200" dirty="0">
                <a:solidFill>
                  <a:schemeClr val="tx1"/>
                </a:solidFill>
                <a:latin typeface="Montserrat" panose="020B0604020202020204" charset="0"/>
                <a:ea typeface="Montserrat ExtraBold"/>
                <a:cs typeface="Montserrat ExtraBold"/>
                <a:sym typeface="Montserrat ExtraBold"/>
              </a:rPr>
              <a:t>H0: A mayor densidad de vivienda turística de alquiler completo por distrito, mayor es el incremento del precio de alquiler residencial, incluso controlando por renta media, distancia al centro y dinámica poblacional.</a:t>
            </a:r>
          </a:p>
        </p:txBody>
      </p:sp>
    </p:spTree>
    <p:extLst>
      <p:ext uri="{BB962C8B-B14F-4D97-AF65-F5344CB8AC3E}">
        <p14:creationId xmlns:p14="http://schemas.microsoft.com/office/powerpoint/2010/main" val="1994639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/>
        </p:nvSpPr>
        <p:spPr>
          <a:xfrm>
            <a:off x="1407922" y="224426"/>
            <a:ext cx="22028548" cy="1949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/>
            <a:r>
              <a:rPr lang="es-ES" sz="6000" dirty="0">
                <a:solidFill>
                  <a:srgbClr val="E6284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Presión Turística vs. Precio de Alquiler Residencial en Madrid</a:t>
            </a:r>
            <a:endParaRPr lang="es-ES" sz="4000" dirty="0">
              <a:solidFill>
                <a:srgbClr val="E628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9"/>
          <p:cNvSpPr txBox="1"/>
          <p:nvPr/>
        </p:nvSpPr>
        <p:spPr>
          <a:xfrm>
            <a:off x="1885000" y="10139000"/>
            <a:ext cx="72129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3810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 b="1">
              <a:solidFill>
                <a:srgbClr val="A40A0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Google Shape;77;p19">
            <a:extLst>
              <a:ext uri="{FF2B5EF4-FFF2-40B4-BE49-F238E27FC236}">
                <a16:creationId xmlns:a16="http://schemas.microsoft.com/office/drawing/2014/main" id="{D4C655FF-30C7-4BB2-B20C-D715CE4E73DD}"/>
              </a:ext>
            </a:extLst>
          </p:cNvPr>
          <p:cNvSpPr txBox="1"/>
          <p:nvPr/>
        </p:nvSpPr>
        <p:spPr>
          <a:xfrm>
            <a:off x="1407922" y="3577000"/>
            <a:ext cx="22028548" cy="551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/>
            <a:r>
              <a:rPr lang="es-ES" sz="3200" dirty="0">
                <a:solidFill>
                  <a:schemeClr val="tx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Metodología:</a:t>
            </a:r>
            <a:endParaRPr lang="es-ES" sz="3200" dirty="0">
              <a:solidFill>
                <a:schemeClr val="tx1"/>
              </a:solidFill>
              <a:latin typeface="Montserrat" panose="020B0604020202020204" charset="0"/>
              <a:ea typeface="Montserrat ExtraBold"/>
              <a:cs typeface="Montserrat ExtraBold"/>
              <a:sym typeface="Montserrat ExtraBold"/>
            </a:endParaRPr>
          </a:p>
          <a:p>
            <a:pPr lvl="0"/>
            <a:endParaRPr lang="es-ES" sz="3200" dirty="0">
              <a:solidFill>
                <a:schemeClr val="tx1"/>
              </a:solidFill>
              <a:latin typeface="Montserrat" panose="020B0604020202020204" charset="0"/>
              <a:ea typeface="Montserrat ExtraBold"/>
              <a:cs typeface="Montserrat ExtraBold"/>
              <a:sym typeface="Montserrat ExtraBold"/>
            </a:endParaRPr>
          </a:p>
          <a:p>
            <a:pPr lvl="0"/>
            <a:r>
              <a:rPr lang="es-ES" sz="3200" dirty="0">
                <a:latin typeface="Montserrat" panose="020B0604020202020204" charset="0"/>
              </a:rPr>
              <a:t>1-Construcción de variables</a:t>
            </a:r>
          </a:p>
          <a:p>
            <a:pPr lvl="0"/>
            <a:r>
              <a:rPr lang="es-ES" sz="3200" dirty="0">
                <a:solidFill>
                  <a:schemeClr val="tx1"/>
                </a:solidFill>
                <a:latin typeface="Montserrat" panose="020B0604020202020204" charset="0"/>
                <a:ea typeface="Montserrat ExtraBold"/>
                <a:cs typeface="Montserrat ExtraBold"/>
                <a:sym typeface="Montserrat ExtraBold"/>
              </a:rPr>
              <a:t>2-Recolección y limpieza de datos</a:t>
            </a:r>
          </a:p>
          <a:p>
            <a:pPr lvl="0"/>
            <a:r>
              <a:rPr lang="es-ES" sz="3200" dirty="0">
                <a:solidFill>
                  <a:schemeClr val="tx1"/>
                </a:solidFill>
                <a:latin typeface="Montserrat" panose="020B0604020202020204" charset="0"/>
                <a:ea typeface="Montserrat ExtraBold"/>
                <a:cs typeface="Montserrat ExtraBold"/>
                <a:sym typeface="Montserrat ExtraBold"/>
              </a:rPr>
              <a:t>3- Análisis de hipótesis: presión turística vs vivienda</a:t>
            </a:r>
          </a:p>
          <a:p>
            <a:pPr lvl="0"/>
            <a:r>
              <a:rPr lang="es-ES" sz="3200" dirty="0">
                <a:solidFill>
                  <a:schemeClr val="tx1"/>
                </a:solidFill>
                <a:latin typeface="Montserrat" panose="020B0604020202020204" charset="0"/>
                <a:ea typeface="Montserrat ExtraBold"/>
                <a:cs typeface="Montserrat ExtraBold"/>
                <a:sym typeface="Montserrat ExtraBold"/>
              </a:rPr>
              <a:t>4- Eliminar otras variable: Aislar variables</a:t>
            </a:r>
          </a:p>
          <a:p>
            <a:pPr lvl="0"/>
            <a:r>
              <a:rPr lang="es-ES" sz="3200" dirty="0">
                <a:solidFill>
                  <a:schemeClr val="tx1"/>
                </a:solidFill>
                <a:latin typeface="Montserrat" panose="020B0604020202020204" charset="0"/>
                <a:ea typeface="Montserrat ExtraBold"/>
                <a:cs typeface="Montserrat ExtraBold"/>
                <a:sym typeface="Montserrat ExtraBold"/>
              </a:rPr>
              <a:t>5- Conclusiones</a:t>
            </a:r>
          </a:p>
          <a:p>
            <a:pPr lvl="0"/>
            <a:endParaRPr lang="es-ES" sz="3200" dirty="0">
              <a:solidFill>
                <a:schemeClr val="tx1"/>
              </a:solidFill>
              <a:latin typeface="Montserrat" panose="020B0604020202020204" charset="0"/>
              <a:ea typeface="Montserrat ExtraBold"/>
              <a:cs typeface="Montserrat ExtraBold"/>
              <a:sym typeface="Montserrat ExtraBold"/>
            </a:endParaRPr>
          </a:p>
          <a:p>
            <a:pPr lvl="0"/>
            <a:r>
              <a:rPr lang="es-ES" sz="3200" dirty="0">
                <a:solidFill>
                  <a:schemeClr val="tx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Entregable:</a:t>
            </a:r>
          </a:p>
          <a:p>
            <a:pPr lvl="0"/>
            <a:endParaRPr lang="es-ES" sz="3200" dirty="0">
              <a:solidFill>
                <a:schemeClr val="tx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lvl="0"/>
            <a:r>
              <a:rPr lang="es-ES" sz="3200" dirty="0">
                <a:solidFill>
                  <a:schemeClr val="tx1"/>
                </a:solidFill>
                <a:latin typeface="Montserrat" panose="020B0604020202020204" charset="0"/>
                <a:ea typeface="Montserrat ExtraBold"/>
                <a:cs typeface="Montserrat ExtraBold"/>
                <a:sym typeface="Montserrat ExtraBold"/>
              </a:rPr>
              <a:t>Visualización de datos HTML</a:t>
            </a:r>
          </a:p>
        </p:txBody>
      </p:sp>
    </p:spTree>
    <p:extLst>
      <p:ext uri="{BB962C8B-B14F-4D97-AF65-F5344CB8AC3E}">
        <p14:creationId xmlns:p14="http://schemas.microsoft.com/office/powerpoint/2010/main" val="1170006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/>
        </p:nvSpPr>
        <p:spPr>
          <a:xfrm>
            <a:off x="1407922" y="224426"/>
            <a:ext cx="22028548" cy="1949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/>
            <a:r>
              <a:rPr lang="es-ES" sz="6000" dirty="0">
                <a:solidFill>
                  <a:srgbClr val="E6284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Presión Turística vs. Precio de Alquiler Residencial en Madrid</a:t>
            </a:r>
            <a:endParaRPr lang="es-ES" sz="4000" dirty="0">
              <a:solidFill>
                <a:srgbClr val="E628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9"/>
          <p:cNvSpPr txBox="1"/>
          <p:nvPr/>
        </p:nvSpPr>
        <p:spPr>
          <a:xfrm>
            <a:off x="1885000" y="10139000"/>
            <a:ext cx="72129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3810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 b="1">
              <a:solidFill>
                <a:srgbClr val="A40A06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Google Shape;77;p19">
            <a:extLst>
              <a:ext uri="{FF2B5EF4-FFF2-40B4-BE49-F238E27FC236}">
                <a16:creationId xmlns:a16="http://schemas.microsoft.com/office/drawing/2014/main" id="{D4C655FF-30C7-4BB2-B20C-D715CE4E73DD}"/>
              </a:ext>
            </a:extLst>
          </p:cNvPr>
          <p:cNvSpPr txBox="1"/>
          <p:nvPr/>
        </p:nvSpPr>
        <p:spPr>
          <a:xfrm>
            <a:off x="1407922" y="5054327"/>
            <a:ext cx="22028548" cy="256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lvl="0"/>
            <a:r>
              <a:rPr lang="es-ES" sz="3200" dirty="0">
                <a:solidFill>
                  <a:schemeClr val="tx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Machine </a:t>
            </a:r>
            <a:r>
              <a:rPr lang="es-ES" sz="3200" dirty="0" err="1">
                <a:solidFill>
                  <a:schemeClr val="tx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Learning</a:t>
            </a:r>
            <a:r>
              <a:rPr lang="es-ES" sz="3200" dirty="0">
                <a:solidFill>
                  <a:schemeClr val="tx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:</a:t>
            </a:r>
          </a:p>
          <a:p>
            <a:pPr lvl="0"/>
            <a:endParaRPr lang="es-ES" sz="3200" dirty="0">
              <a:solidFill>
                <a:schemeClr val="tx1"/>
              </a:solidFill>
              <a:latin typeface="Montserrat" panose="020B0604020202020204" charset="0"/>
              <a:ea typeface="Montserrat ExtraBold"/>
              <a:cs typeface="Montserrat ExtraBold"/>
              <a:sym typeface="Montserrat ExtraBold"/>
            </a:endParaRPr>
          </a:p>
          <a:p>
            <a:pPr lvl="0"/>
            <a:r>
              <a:rPr lang="es-ES" sz="3200" dirty="0">
                <a:solidFill>
                  <a:schemeClr val="tx1"/>
                </a:solidFill>
                <a:latin typeface="Montserrat" panose="020B0604020202020204" charset="0"/>
                <a:ea typeface="Montserrat ExtraBold"/>
                <a:cs typeface="Montserrat ExtraBold"/>
                <a:sym typeface="Montserrat ExtraBold"/>
              </a:rPr>
              <a:t>Construir un modelo que, a partir de los datos de cada barrio sea capaz de predecir cuál será el precio del alquiler. Esto me sirve para ver qué factores pesan más a la hora de que un barrio tenga alquileres caros y comprobar si la presión turística es uno de los factores importantes.</a:t>
            </a:r>
          </a:p>
        </p:txBody>
      </p:sp>
    </p:spTree>
    <p:extLst>
      <p:ext uri="{BB962C8B-B14F-4D97-AF65-F5344CB8AC3E}">
        <p14:creationId xmlns:p14="http://schemas.microsoft.com/office/powerpoint/2010/main" val="316500124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355</Words>
  <Application>Microsoft Office PowerPoint</Application>
  <PresentationFormat>Personalizado</PresentationFormat>
  <Paragraphs>38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6" baseType="lpstr">
      <vt:lpstr>Calibri</vt:lpstr>
      <vt:lpstr>Heebo</vt:lpstr>
      <vt:lpstr>Georgia</vt:lpstr>
      <vt:lpstr>Nunito Sans</vt:lpstr>
      <vt:lpstr>Montserrat ExtraBold</vt:lpstr>
      <vt:lpstr>Arial</vt:lpstr>
      <vt:lpstr>Helvetica Neue</vt:lpstr>
      <vt:lpstr>Roboto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Juan Cortés Paredes</cp:lastModifiedBy>
  <cp:revision>9</cp:revision>
  <dcterms:modified xsi:type="dcterms:W3CDTF">2026-09-03T14:59:43Z</dcterms:modified>
</cp:coreProperties>
</file>